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62" r:id="rId1"/>
  </p:sldMasterIdLst>
  <p:sldIdLst>
    <p:sldId id="256" r:id="rId2"/>
    <p:sldId id="257" r:id="rId3"/>
    <p:sldId id="262" r:id="rId4"/>
    <p:sldId id="263" r:id="rId5"/>
    <p:sldId id="264"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9479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905727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15585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8/12/2026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02368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8/12/2026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77001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8/12/2026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26837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8/12/2026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27059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8/12/2026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512846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276706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68331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556602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6259625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915728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8/12/2026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30957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8/12/2026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775465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715175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952788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8/12/2026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000284179"/>
      </p:ext>
    </p:extLst>
  </p:cSld>
  <p:clrMap bg1="lt1" tx1="dk1" bg2="lt2" tx2="dk2" accent1="accent1" accent2="accent2" accent3="accent3" accent4="accent4" accent5="accent5" accent6="accent6" hlink="hlink" folHlink="folHlink"/>
  <p:sldLayoutIdLst>
    <p:sldLayoutId id="2147483963" r:id="rId1"/>
    <p:sldLayoutId id="2147483964" r:id="rId2"/>
    <p:sldLayoutId id="2147483965" r:id="rId3"/>
    <p:sldLayoutId id="2147483966" r:id="rId4"/>
    <p:sldLayoutId id="2147483967" r:id="rId5"/>
    <p:sldLayoutId id="2147483968" r:id="rId6"/>
    <p:sldLayoutId id="2147483969" r:id="rId7"/>
    <p:sldLayoutId id="2147483970" r:id="rId8"/>
    <p:sldLayoutId id="2147483971" r:id="rId9"/>
    <p:sldLayoutId id="2147483972" r:id="rId10"/>
    <p:sldLayoutId id="2147483973" r:id="rId11"/>
    <p:sldLayoutId id="2147483974" r:id="rId12"/>
    <p:sldLayoutId id="2147483975" r:id="rId13"/>
    <p:sldLayoutId id="2147483976" r:id="rId14"/>
    <p:sldLayoutId id="2147483977" r:id="rId15"/>
    <p:sldLayoutId id="2147483978" r:id="rId16"/>
    <p:sldLayoutId id="2147483979"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14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41153" y="3078780"/>
            <a:ext cx="2824555" cy="400110"/>
          </a:xfrm>
          <a:prstGeom prst="rect">
            <a:avLst/>
          </a:prstGeom>
          <a:noFill/>
        </p:spPr>
        <p:txBody>
          <a:bodyPr wrap="none">
            <a:spAutoFit/>
          </a:bodyPr>
          <a:lstStyle/>
          <a:p>
            <a:pPr algn="ctr"/>
            <a:r>
              <a:rPr sz="2000" b="1" dirty="0">
                <a:solidFill>
                  <a:srgbClr val="141F34"/>
                </a:solidFill>
                <a:latin typeface="Arial Black" panose="020B0A04020102020204" pitchFamily="34" charset="0"/>
              </a:rPr>
              <a:t>Consumer Persona</a:t>
            </a:r>
          </a:p>
        </p:txBody>
      </p:sp>
      <p:sp>
        <p:nvSpPr>
          <p:cNvPr id="7" name="TextBox 6">
            <a:extLst>
              <a:ext uri="{FF2B5EF4-FFF2-40B4-BE49-F238E27FC236}">
                <a16:creationId xmlns:a16="http://schemas.microsoft.com/office/drawing/2014/main" id="{F367B299-82D8-51CC-536F-38E1A873B333}"/>
              </a:ext>
            </a:extLst>
          </p:cNvPr>
          <p:cNvSpPr txBox="1"/>
          <p:nvPr/>
        </p:nvSpPr>
        <p:spPr>
          <a:xfrm>
            <a:off x="658761" y="5131535"/>
            <a:ext cx="3864078" cy="923330"/>
          </a:xfrm>
          <a:prstGeom prst="rect">
            <a:avLst/>
          </a:prstGeom>
          <a:noFill/>
        </p:spPr>
        <p:txBody>
          <a:bodyPr wrap="square" rtlCol="0">
            <a:spAutoFit/>
          </a:bodyPr>
          <a:lstStyle/>
          <a:p>
            <a:r>
              <a:rPr lang="en-IN" dirty="0">
                <a:latin typeface="Arial Black" panose="020B0A04020102020204" pitchFamily="34" charset="0"/>
                <a:ea typeface="Cambria" panose="02040503050406030204" pitchFamily="18" charset="0"/>
              </a:rPr>
              <a:t>TIRTH JOSHI</a:t>
            </a:r>
          </a:p>
          <a:p>
            <a:r>
              <a:rPr lang="en-IN" dirty="0">
                <a:latin typeface="Arial Black" panose="020B0A04020102020204" pitchFamily="34" charset="0"/>
                <a:ea typeface="Cambria" panose="02040503050406030204" pitchFamily="18" charset="0"/>
              </a:rPr>
              <a:t>1262242889</a:t>
            </a:r>
          </a:p>
          <a:p>
            <a:r>
              <a:rPr lang="en-IN" dirty="0">
                <a:latin typeface="Arial Black" panose="020B0A04020102020204" pitchFamily="34" charset="0"/>
                <a:ea typeface="Cambria" panose="02040503050406030204" pitchFamily="18" charset="0"/>
              </a:rPr>
              <a:t>F1-18</a:t>
            </a:r>
          </a:p>
        </p:txBody>
      </p:sp>
      <p:sp>
        <p:nvSpPr>
          <p:cNvPr id="8" name="TextBox 7">
            <a:extLst>
              <a:ext uri="{FF2B5EF4-FFF2-40B4-BE49-F238E27FC236}">
                <a16:creationId xmlns:a16="http://schemas.microsoft.com/office/drawing/2014/main" id="{0C96344F-7790-6DAC-50BF-3CE4BAC1BB9A}"/>
              </a:ext>
            </a:extLst>
          </p:cNvPr>
          <p:cNvSpPr txBox="1"/>
          <p:nvPr/>
        </p:nvSpPr>
        <p:spPr>
          <a:xfrm>
            <a:off x="2319824" y="2494005"/>
            <a:ext cx="3490451" cy="584775"/>
          </a:xfrm>
          <a:prstGeom prst="rect">
            <a:avLst/>
          </a:prstGeom>
          <a:noFill/>
        </p:spPr>
        <p:txBody>
          <a:bodyPr wrap="square" rtlCol="0">
            <a:spAutoFit/>
          </a:bodyPr>
          <a:lstStyle/>
          <a:p>
            <a:r>
              <a:rPr lang="en-IN" sz="3200" dirty="0">
                <a:latin typeface="Arial Black" panose="020B0A04020102020204" pitchFamily="34" charset="0"/>
                <a:ea typeface="Cambria" panose="02040503050406030204" pitchFamily="18" charset="0"/>
              </a:rPr>
              <a:t>User Interface  </a:t>
            </a:r>
          </a:p>
        </p:txBody>
      </p:sp>
      <p:sp>
        <p:nvSpPr>
          <p:cNvPr id="9" name="TextBox 8">
            <a:extLst>
              <a:ext uri="{FF2B5EF4-FFF2-40B4-BE49-F238E27FC236}">
                <a16:creationId xmlns:a16="http://schemas.microsoft.com/office/drawing/2014/main" id="{79CF05E8-99F9-2164-1ED6-327BE5DED9D3}"/>
              </a:ext>
            </a:extLst>
          </p:cNvPr>
          <p:cNvSpPr txBox="1"/>
          <p:nvPr/>
        </p:nvSpPr>
        <p:spPr>
          <a:xfrm>
            <a:off x="6238570" y="2524783"/>
            <a:ext cx="3490450" cy="523220"/>
          </a:xfrm>
          <a:prstGeom prst="rect">
            <a:avLst/>
          </a:prstGeom>
          <a:noFill/>
        </p:spPr>
        <p:txBody>
          <a:bodyPr wrap="square" rtlCol="0">
            <a:spAutoFit/>
          </a:bodyPr>
          <a:lstStyle/>
          <a:p>
            <a:r>
              <a:rPr lang="en-IN" sz="2800" dirty="0">
                <a:latin typeface="Arial Black" panose="020B0A04020102020204" pitchFamily="34" charset="0"/>
              </a:rPr>
              <a:t>User Experience</a:t>
            </a:r>
          </a:p>
        </p:txBody>
      </p:sp>
      <p:sp>
        <p:nvSpPr>
          <p:cNvPr id="10" name="TextBox 9">
            <a:extLst>
              <a:ext uri="{FF2B5EF4-FFF2-40B4-BE49-F238E27FC236}">
                <a16:creationId xmlns:a16="http://schemas.microsoft.com/office/drawing/2014/main" id="{ABC0CE46-B378-F6DD-CEC9-08AD8A426675}"/>
              </a:ext>
            </a:extLst>
          </p:cNvPr>
          <p:cNvSpPr txBox="1"/>
          <p:nvPr/>
        </p:nvSpPr>
        <p:spPr>
          <a:xfrm>
            <a:off x="5829940" y="2635883"/>
            <a:ext cx="389850" cy="369332"/>
          </a:xfrm>
          <a:prstGeom prst="rect">
            <a:avLst/>
          </a:prstGeom>
          <a:noFill/>
        </p:spPr>
        <p:txBody>
          <a:bodyPr wrap="none" rtlCol="0">
            <a:spAutoFit/>
          </a:bodyPr>
          <a:lstStyle/>
          <a:p>
            <a:r>
              <a:rPr lang="en-IN" dirty="0">
                <a:latin typeface="Arial Black" panose="020B0A04020102020204" pitchFamily="34" charset="0"/>
              </a:rPr>
              <a:t>&amp;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14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25 year old man illustration Images - Free Download on Magnific (formerly  Freepik)">
            <a:extLst>
              <a:ext uri="{FF2B5EF4-FFF2-40B4-BE49-F238E27FC236}">
                <a16:creationId xmlns:a16="http://schemas.microsoft.com/office/drawing/2014/main" id="{603BC4CA-6E19-EEF7-B4AB-7D02404F4957}"/>
              </a:ext>
            </a:extLst>
          </p:cNvPr>
          <p:cNvPicPr>
            <a:picLocks noChangeAspect="1"/>
          </p:cNvPicPr>
          <p:nvPr/>
        </p:nvPicPr>
        <p:blipFill>
          <a:blip r:embed="rId2"/>
          <a:stretch>
            <a:fillRect/>
          </a:stretch>
        </p:blipFill>
        <p:spPr>
          <a:xfrm>
            <a:off x="6429117" y="1036072"/>
            <a:ext cx="3549445" cy="2769012"/>
          </a:xfrm>
          <a:prstGeom prst="rect">
            <a:avLst/>
          </a:prstGeom>
        </p:spPr>
      </p:pic>
      <p:sp>
        <p:nvSpPr>
          <p:cNvPr id="6" name="TextBox 5">
            <a:extLst>
              <a:ext uri="{FF2B5EF4-FFF2-40B4-BE49-F238E27FC236}">
                <a16:creationId xmlns:a16="http://schemas.microsoft.com/office/drawing/2014/main" id="{EB7C8547-F706-0F19-4E05-8E415E843452}"/>
              </a:ext>
            </a:extLst>
          </p:cNvPr>
          <p:cNvSpPr txBox="1"/>
          <p:nvPr/>
        </p:nvSpPr>
        <p:spPr>
          <a:xfrm>
            <a:off x="1312408" y="2298994"/>
            <a:ext cx="4345858" cy="1631216"/>
          </a:xfrm>
          <a:prstGeom prst="rect">
            <a:avLst/>
          </a:prstGeom>
          <a:noFill/>
        </p:spPr>
        <p:txBody>
          <a:bodyPr wrap="square" rtlCol="0">
            <a:spAutoFit/>
          </a:bodyPr>
          <a:lstStyle/>
          <a:p>
            <a:r>
              <a:rPr lang="en-IN" sz="2000" dirty="0">
                <a:latin typeface="Cambria" panose="02040503050406030204" pitchFamily="18" charset="0"/>
                <a:ea typeface="Cambria" panose="02040503050406030204" pitchFamily="18" charset="0"/>
              </a:rPr>
              <a:t>Goals: </a:t>
            </a:r>
          </a:p>
          <a:p>
            <a:r>
              <a:rPr lang="en-IN" sz="2000" dirty="0">
                <a:latin typeface="Cambria" panose="02040503050406030204" pitchFamily="18" charset="0"/>
                <a:ea typeface="Cambria" panose="02040503050406030204" pitchFamily="18" charset="0"/>
              </a:rPr>
              <a:t>Find out more about new genres and artists</a:t>
            </a:r>
          </a:p>
          <a:p>
            <a:r>
              <a:rPr lang="en-IN" sz="2000" dirty="0">
                <a:latin typeface="Cambria" panose="02040503050406030204" pitchFamily="18" charset="0"/>
                <a:ea typeface="Cambria" panose="02040503050406030204" pitchFamily="18" charset="0"/>
              </a:rPr>
              <a:t>Listen without interruptions</a:t>
            </a:r>
          </a:p>
          <a:p>
            <a:r>
              <a:rPr lang="en-IN" sz="2000" dirty="0">
                <a:latin typeface="Cambria" panose="02040503050406030204" pitchFamily="18" charset="0"/>
                <a:ea typeface="Cambria" panose="02040503050406030204" pitchFamily="18" charset="0"/>
              </a:rPr>
              <a:t>Find music that matches his mood</a:t>
            </a:r>
          </a:p>
        </p:txBody>
      </p:sp>
      <p:sp>
        <p:nvSpPr>
          <p:cNvPr id="7" name="TextBox 6">
            <a:extLst>
              <a:ext uri="{FF2B5EF4-FFF2-40B4-BE49-F238E27FC236}">
                <a16:creationId xmlns:a16="http://schemas.microsoft.com/office/drawing/2014/main" id="{367C8EE2-77EB-6F16-A3C8-D41B36A8AB39}"/>
              </a:ext>
            </a:extLst>
          </p:cNvPr>
          <p:cNvSpPr txBox="1"/>
          <p:nvPr/>
        </p:nvSpPr>
        <p:spPr>
          <a:xfrm>
            <a:off x="7306546" y="3878149"/>
            <a:ext cx="4277028" cy="461665"/>
          </a:xfrm>
          <a:prstGeom prst="rect">
            <a:avLst/>
          </a:prstGeom>
          <a:noFill/>
        </p:spPr>
        <p:txBody>
          <a:bodyPr wrap="square" rtlCol="0">
            <a:spAutoFit/>
          </a:bodyPr>
          <a:lstStyle/>
          <a:p>
            <a:r>
              <a:rPr lang="en-IN" sz="2400" dirty="0">
                <a:latin typeface="Bernard MT Condensed" panose="02050806060905020404" pitchFamily="18" charset="0"/>
              </a:rPr>
              <a:t>Raghav </a:t>
            </a:r>
            <a:r>
              <a:rPr lang="en-IN" sz="2400" dirty="0" err="1">
                <a:latin typeface="Bernard MT Condensed" panose="02050806060905020404" pitchFamily="18" charset="0"/>
              </a:rPr>
              <a:t>singh</a:t>
            </a:r>
            <a:endParaRPr lang="en-IN" sz="2400" dirty="0">
              <a:latin typeface="Bernard MT Condensed" panose="02050806060905020404" pitchFamily="18" charset="0"/>
            </a:endParaRPr>
          </a:p>
        </p:txBody>
      </p:sp>
      <p:sp>
        <p:nvSpPr>
          <p:cNvPr id="8" name="TextBox 7">
            <a:extLst>
              <a:ext uri="{FF2B5EF4-FFF2-40B4-BE49-F238E27FC236}">
                <a16:creationId xmlns:a16="http://schemas.microsoft.com/office/drawing/2014/main" id="{E767CDE4-1030-FE3D-A3FC-5693DD0FF097}"/>
              </a:ext>
            </a:extLst>
          </p:cNvPr>
          <p:cNvSpPr txBox="1"/>
          <p:nvPr/>
        </p:nvSpPr>
        <p:spPr>
          <a:xfrm>
            <a:off x="7306546" y="4228213"/>
            <a:ext cx="2820682" cy="369332"/>
          </a:xfrm>
          <a:prstGeom prst="rect">
            <a:avLst/>
          </a:prstGeom>
          <a:noFill/>
        </p:spPr>
        <p:txBody>
          <a:bodyPr wrap="square" rtlCol="0">
            <a:spAutoFit/>
          </a:bodyPr>
          <a:lstStyle/>
          <a:p>
            <a:r>
              <a:rPr lang="en-IN" b="1" dirty="0"/>
              <a:t>23 YEARS OLD</a:t>
            </a:r>
          </a:p>
        </p:txBody>
      </p:sp>
      <p:sp>
        <p:nvSpPr>
          <p:cNvPr id="12" name="TextBox 11">
            <a:extLst>
              <a:ext uri="{FF2B5EF4-FFF2-40B4-BE49-F238E27FC236}">
                <a16:creationId xmlns:a16="http://schemas.microsoft.com/office/drawing/2014/main" id="{9615814A-7823-EBFB-770F-ABE230992014}"/>
              </a:ext>
            </a:extLst>
          </p:cNvPr>
          <p:cNvSpPr txBox="1"/>
          <p:nvPr/>
        </p:nvSpPr>
        <p:spPr>
          <a:xfrm>
            <a:off x="1270720" y="1514363"/>
            <a:ext cx="4741904" cy="400110"/>
          </a:xfrm>
          <a:prstGeom prst="rect">
            <a:avLst/>
          </a:prstGeom>
          <a:noFill/>
        </p:spPr>
        <p:txBody>
          <a:bodyPr wrap="square" rtlCol="0">
            <a:spAutoFit/>
          </a:bodyPr>
          <a:lstStyle/>
          <a:p>
            <a:r>
              <a:rPr lang="en-IN" sz="2000" b="1" dirty="0">
                <a:latin typeface="Cambria" panose="02040503050406030204" pitchFamily="18" charset="0"/>
                <a:ea typeface="Cambria" panose="02040503050406030204" pitchFamily="18" charset="0"/>
              </a:rPr>
              <a:t>“I want to explore as much as I can”</a:t>
            </a:r>
            <a:endParaRPr lang="en-IN" sz="2000" dirty="0">
              <a:latin typeface="Cambria" panose="02040503050406030204" pitchFamily="18" charset="0"/>
              <a:ea typeface="Cambria" panose="02040503050406030204" pitchFamily="18" charset="0"/>
            </a:endParaRPr>
          </a:p>
        </p:txBody>
      </p:sp>
      <p:sp>
        <p:nvSpPr>
          <p:cNvPr id="13" name="TextBox 12">
            <a:extLst>
              <a:ext uri="{FF2B5EF4-FFF2-40B4-BE49-F238E27FC236}">
                <a16:creationId xmlns:a16="http://schemas.microsoft.com/office/drawing/2014/main" id="{C37419A8-A359-B67E-4B61-02D646312632}"/>
              </a:ext>
            </a:extLst>
          </p:cNvPr>
          <p:cNvSpPr txBox="1"/>
          <p:nvPr/>
        </p:nvSpPr>
        <p:spPr>
          <a:xfrm>
            <a:off x="1270720" y="4514786"/>
            <a:ext cx="4257368" cy="1323439"/>
          </a:xfrm>
          <a:prstGeom prst="rect">
            <a:avLst/>
          </a:prstGeom>
          <a:noFill/>
        </p:spPr>
        <p:txBody>
          <a:bodyPr wrap="square" rtlCol="0">
            <a:spAutoFit/>
          </a:bodyPr>
          <a:lstStyle/>
          <a:p>
            <a:r>
              <a:rPr lang="en-IN" sz="2000" dirty="0">
                <a:latin typeface="Cambria" panose="02040503050406030204" pitchFamily="18" charset="0"/>
                <a:ea typeface="Cambria" panose="02040503050406030204" pitchFamily="18" charset="0"/>
              </a:rPr>
              <a:t>Frustrations:</a:t>
            </a:r>
          </a:p>
          <a:p>
            <a:r>
              <a:rPr lang="en-IN" sz="2000" dirty="0">
                <a:latin typeface="Cambria" panose="02040503050406030204" pitchFamily="18" charset="0"/>
                <a:ea typeface="Cambria" panose="02040503050406030204" pitchFamily="18" charset="0"/>
              </a:rPr>
              <a:t>Hates advertisements</a:t>
            </a:r>
          </a:p>
          <a:p>
            <a:r>
              <a:rPr lang="en-IN" sz="2000" dirty="0">
                <a:latin typeface="Cambria" panose="02040503050406030204" pitchFamily="18" charset="0"/>
                <a:ea typeface="Cambria" panose="02040503050406030204" pitchFamily="18" charset="0"/>
              </a:rPr>
              <a:t>Can not discover music that matches his taste</a:t>
            </a:r>
          </a:p>
        </p:txBody>
      </p:sp>
      <p:sp>
        <p:nvSpPr>
          <p:cNvPr id="16" name="TextBox 15">
            <a:extLst>
              <a:ext uri="{FF2B5EF4-FFF2-40B4-BE49-F238E27FC236}">
                <a16:creationId xmlns:a16="http://schemas.microsoft.com/office/drawing/2014/main" id="{3B3B11F7-FBCC-97E0-C315-2A491E992CAF}"/>
              </a:ext>
            </a:extLst>
          </p:cNvPr>
          <p:cNvSpPr txBox="1"/>
          <p:nvPr/>
        </p:nvSpPr>
        <p:spPr>
          <a:xfrm>
            <a:off x="5658266" y="4943528"/>
            <a:ext cx="6115664" cy="923330"/>
          </a:xfrm>
          <a:prstGeom prst="rect">
            <a:avLst/>
          </a:prstGeom>
          <a:noFill/>
        </p:spPr>
        <p:txBody>
          <a:bodyPr wrap="square">
            <a:spAutoFit/>
          </a:bodyPr>
          <a:lstStyle/>
          <a:p>
            <a:r>
              <a:rPr lang="en-IN" dirty="0">
                <a:latin typeface="Cambria" panose="02040503050406030204" pitchFamily="18" charset="0"/>
                <a:ea typeface="Cambria" panose="02040503050406030204" pitchFamily="18" charset="0"/>
              </a:rPr>
              <a:t>A student who loves music and enjoys exploring different genres and artists. He values uninterrupted listening and personalized recommendations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F0306-DF48-A363-334D-769E79ABC65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5E7954A-B2EC-747D-3454-683A57693C77}"/>
              </a:ext>
            </a:extLst>
          </p:cNvPr>
          <p:cNvSpPr/>
          <p:nvPr/>
        </p:nvSpPr>
        <p:spPr>
          <a:xfrm>
            <a:off x="0" y="0"/>
            <a:ext cx="146304" cy="6858000"/>
          </a:xfrm>
          <a:prstGeom prst="rect">
            <a:avLst/>
          </a:prstGeom>
          <a:solidFill>
            <a:srgbClr val="14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5A55BEA7-9294-D8EF-BCC4-840FE09E0DAA}"/>
              </a:ext>
            </a:extLst>
          </p:cNvPr>
          <p:cNvSpPr txBox="1"/>
          <p:nvPr/>
        </p:nvSpPr>
        <p:spPr>
          <a:xfrm>
            <a:off x="1312408" y="2298994"/>
            <a:ext cx="4345858" cy="1631216"/>
          </a:xfrm>
          <a:prstGeom prst="rect">
            <a:avLst/>
          </a:prstGeom>
          <a:noFill/>
        </p:spPr>
        <p:txBody>
          <a:bodyPr wrap="square" rtlCol="0">
            <a:spAutoFit/>
          </a:bodyPr>
          <a:lstStyle/>
          <a:p>
            <a:r>
              <a:rPr lang="en-IN" sz="2000" dirty="0">
                <a:latin typeface="Cambria" panose="02040503050406030204" pitchFamily="18" charset="0"/>
                <a:ea typeface="Cambria" panose="02040503050406030204" pitchFamily="18" charset="0"/>
              </a:rPr>
              <a:t>Goals: </a:t>
            </a:r>
          </a:p>
          <a:p>
            <a:r>
              <a:rPr lang="en-IN" sz="2000" dirty="0">
                <a:latin typeface="Cambria" panose="02040503050406030204" pitchFamily="18" charset="0"/>
                <a:ea typeface="Cambria" panose="02040503050406030204" pitchFamily="18" charset="0"/>
              </a:rPr>
              <a:t>Listen to old songs from his younger days</a:t>
            </a:r>
          </a:p>
          <a:p>
            <a:r>
              <a:rPr lang="en-IN" sz="2000" dirty="0">
                <a:latin typeface="Cambria" panose="02040503050406030204" pitchFamily="18" charset="0"/>
                <a:ea typeface="Cambria" panose="02040503050406030204" pitchFamily="18" charset="0"/>
              </a:rPr>
              <a:t>Easily find </a:t>
            </a:r>
            <a:r>
              <a:rPr lang="en-IN" sz="2000" dirty="0" err="1">
                <a:latin typeface="Cambria" panose="02040503050406030204" pitchFamily="18" charset="0"/>
                <a:ea typeface="Cambria" panose="02040503050406030204" pitchFamily="18" charset="0"/>
              </a:rPr>
              <a:t>favorite</a:t>
            </a:r>
            <a:r>
              <a:rPr lang="en-IN" sz="2000" dirty="0">
                <a:latin typeface="Cambria" panose="02040503050406030204" pitchFamily="18" charset="0"/>
                <a:ea typeface="Cambria" panose="02040503050406030204" pitchFamily="18" charset="0"/>
              </a:rPr>
              <a:t> singers and songs</a:t>
            </a:r>
          </a:p>
          <a:p>
            <a:r>
              <a:rPr lang="en-IN" sz="2000" dirty="0">
                <a:latin typeface="Cambria" panose="02040503050406030204" pitchFamily="18" charset="0"/>
                <a:ea typeface="Cambria" panose="02040503050406030204" pitchFamily="18" charset="0"/>
              </a:rPr>
              <a:t>Shift from radio to mobile music</a:t>
            </a:r>
          </a:p>
        </p:txBody>
      </p:sp>
      <p:sp>
        <p:nvSpPr>
          <p:cNvPr id="7" name="TextBox 6">
            <a:extLst>
              <a:ext uri="{FF2B5EF4-FFF2-40B4-BE49-F238E27FC236}">
                <a16:creationId xmlns:a16="http://schemas.microsoft.com/office/drawing/2014/main" id="{CF94A2DC-D60A-04E5-D47B-4F9490DCC444}"/>
              </a:ext>
            </a:extLst>
          </p:cNvPr>
          <p:cNvSpPr txBox="1"/>
          <p:nvPr/>
        </p:nvSpPr>
        <p:spPr>
          <a:xfrm>
            <a:off x="7306546" y="3878149"/>
            <a:ext cx="4277028" cy="461665"/>
          </a:xfrm>
          <a:prstGeom prst="rect">
            <a:avLst/>
          </a:prstGeom>
          <a:noFill/>
        </p:spPr>
        <p:txBody>
          <a:bodyPr wrap="square" rtlCol="0">
            <a:spAutoFit/>
          </a:bodyPr>
          <a:lstStyle/>
          <a:p>
            <a:r>
              <a:rPr lang="en-IN" sz="2400" dirty="0">
                <a:latin typeface="Bernard MT Condensed" panose="02050806060905020404" pitchFamily="18" charset="0"/>
              </a:rPr>
              <a:t>Ramesh </a:t>
            </a:r>
            <a:r>
              <a:rPr lang="en-IN" sz="2400" dirty="0" err="1">
                <a:latin typeface="Bernard MT Condensed" panose="02050806060905020404" pitchFamily="18" charset="0"/>
              </a:rPr>
              <a:t>sharma</a:t>
            </a:r>
            <a:endParaRPr lang="en-IN" sz="2400" dirty="0">
              <a:latin typeface="Bernard MT Condensed" panose="02050806060905020404" pitchFamily="18" charset="0"/>
            </a:endParaRPr>
          </a:p>
        </p:txBody>
      </p:sp>
      <p:sp>
        <p:nvSpPr>
          <p:cNvPr id="8" name="TextBox 7">
            <a:extLst>
              <a:ext uri="{FF2B5EF4-FFF2-40B4-BE49-F238E27FC236}">
                <a16:creationId xmlns:a16="http://schemas.microsoft.com/office/drawing/2014/main" id="{952ADA34-0CEA-38B9-0AC0-0F508EA04C21}"/>
              </a:ext>
            </a:extLst>
          </p:cNvPr>
          <p:cNvSpPr txBox="1"/>
          <p:nvPr/>
        </p:nvSpPr>
        <p:spPr>
          <a:xfrm>
            <a:off x="7404868" y="4233445"/>
            <a:ext cx="2820682" cy="369332"/>
          </a:xfrm>
          <a:prstGeom prst="rect">
            <a:avLst/>
          </a:prstGeom>
          <a:noFill/>
        </p:spPr>
        <p:txBody>
          <a:bodyPr wrap="square" rtlCol="0">
            <a:spAutoFit/>
          </a:bodyPr>
          <a:lstStyle/>
          <a:p>
            <a:r>
              <a:rPr lang="en-IN" b="1" dirty="0"/>
              <a:t>60 YEARS OLD</a:t>
            </a:r>
          </a:p>
        </p:txBody>
      </p:sp>
      <p:sp>
        <p:nvSpPr>
          <p:cNvPr id="12" name="TextBox 11">
            <a:extLst>
              <a:ext uri="{FF2B5EF4-FFF2-40B4-BE49-F238E27FC236}">
                <a16:creationId xmlns:a16="http://schemas.microsoft.com/office/drawing/2014/main" id="{64DBFEBC-1345-B9BF-7340-6C3F7A635E54}"/>
              </a:ext>
            </a:extLst>
          </p:cNvPr>
          <p:cNvSpPr txBox="1"/>
          <p:nvPr/>
        </p:nvSpPr>
        <p:spPr>
          <a:xfrm>
            <a:off x="1356653" y="1261119"/>
            <a:ext cx="4257368" cy="707886"/>
          </a:xfrm>
          <a:prstGeom prst="rect">
            <a:avLst/>
          </a:prstGeom>
          <a:noFill/>
        </p:spPr>
        <p:txBody>
          <a:bodyPr wrap="square" rtlCol="0">
            <a:spAutoFit/>
          </a:bodyPr>
          <a:lstStyle/>
          <a:p>
            <a:r>
              <a:rPr lang="en-IN" sz="2000" b="1" dirty="0">
                <a:latin typeface="Cambria" panose="02040503050406030204" pitchFamily="18" charset="0"/>
                <a:ea typeface="Cambria" panose="02040503050406030204" pitchFamily="18" charset="0"/>
              </a:rPr>
              <a:t>“I want to enjoy my old favourites, but on my mobile.”</a:t>
            </a:r>
          </a:p>
        </p:txBody>
      </p:sp>
      <p:sp>
        <p:nvSpPr>
          <p:cNvPr id="13" name="TextBox 12">
            <a:extLst>
              <a:ext uri="{FF2B5EF4-FFF2-40B4-BE49-F238E27FC236}">
                <a16:creationId xmlns:a16="http://schemas.microsoft.com/office/drawing/2014/main" id="{6B81D72B-D1C1-DE38-CA0C-6D7BEA7A8B19}"/>
              </a:ext>
            </a:extLst>
          </p:cNvPr>
          <p:cNvSpPr txBox="1"/>
          <p:nvPr/>
        </p:nvSpPr>
        <p:spPr>
          <a:xfrm>
            <a:off x="1270720" y="4514786"/>
            <a:ext cx="4257368" cy="1323439"/>
          </a:xfrm>
          <a:prstGeom prst="rect">
            <a:avLst/>
          </a:prstGeom>
          <a:noFill/>
        </p:spPr>
        <p:txBody>
          <a:bodyPr wrap="square" rtlCol="0">
            <a:spAutoFit/>
          </a:bodyPr>
          <a:lstStyle/>
          <a:p>
            <a:r>
              <a:rPr lang="en-IN" sz="2000" dirty="0">
                <a:latin typeface="Cambria" panose="02040503050406030204" pitchFamily="18" charset="0"/>
                <a:ea typeface="Cambria" panose="02040503050406030204" pitchFamily="18" charset="0"/>
              </a:rPr>
              <a:t>Frustrations:</a:t>
            </a:r>
          </a:p>
          <a:p>
            <a:r>
              <a:rPr lang="en-IN" sz="2000" dirty="0">
                <a:latin typeface="Cambria" panose="02040503050406030204" pitchFamily="18" charset="0"/>
                <a:ea typeface="Cambria" panose="02040503050406030204" pitchFamily="18" charset="0"/>
              </a:rPr>
              <a:t>Finds music apps confusing</a:t>
            </a:r>
          </a:p>
          <a:p>
            <a:r>
              <a:rPr lang="en-IN" sz="2000" dirty="0">
                <a:latin typeface="Cambria" panose="02040503050406030204" pitchFamily="18" charset="0"/>
                <a:ea typeface="Cambria" panose="02040503050406030204" pitchFamily="18" charset="0"/>
              </a:rPr>
              <a:t>Has difficulty finding songs</a:t>
            </a:r>
          </a:p>
          <a:p>
            <a:r>
              <a:rPr lang="en-IN" sz="2000" dirty="0">
                <a:latin typeface="Cambria" panose="02040503050406030204" pitchFamily="18" charset="0"/>
                <a:ea typeface="Cambria" panose="02040503050406030204" pitchFamily="18" charset="0"/>
              </a:rPr>
              <a:t>Does not like complex features</a:t>
            </a:r>
          </a:p>
        </p:txBody>
      </p:sp>
      <p:sp>
        <p:nvSpPr>
          <p:cNvPr id="16" name="TextBox 15">
            <a:extLst>
              <a:ext uri="{FF2B5EF4-FFF2-40B4-BE49-F238E27FC236}">
                <a16:creationId xmlns:a16="http://schemas.microsoft.com/office/drawing/2014/main" id="{45647CFD-3EDB-81B7-181D-77FBEF1451D0}"/>
              </a:ext>
            </a:extLst>
          </p:cNvPr>
          <p:cNvSpPr txBox="1"/>
          <p:nvPr/>
        </p:nvSpPr>
        <p:spPr>
          <a:xfrm>
            <a:off x="5658266" y="4727903"/>
            <a:ext cx="6115664" cy="1200329"/>
          </a:xfrm>
          <a:prstGeom prst="rect">
            <a:avLst/>
          </a:prstGeom>
          <a:noFill/>
        </p:spPr>
        <p:txBody>
          <a:bodyPr wrap="square">
            <a:spAutoFit/>
          </a:bodyPr>
          <a:lstStyle/>
          <a:p>
            <a:r>
              <a:rPr lang="en-IN" dirty="0">
                <a:latin typeface="Cambria" panose="02040503050406030204" pitchFamily="18" charset="0"/>
                <a:ea typeface="Cambria" panose="02040503050406030204" pitchFamily="18" charset="0"/>
              </a:rPr>
              <a:t> A retired professional who enjoys listening to classic songs and old Bollywood music. He is comfortable with his mobile phone but prefers simple apps and wants an easy way to enjoy his favourite songs without relying on the radio</a:t>
            </a:r>
          </a:p>
        </p:txBody>
      </p:sp>
      <p:pic>
        <p:nvPicPr>
          <p:cNvPr id="4" name="Picture 3" descr="UP !">
            <a:extLst>
              <a:ext uri="{FF2B5EF4-FFF2-40B4-BE49-F238E27FC236}">
                <a16:creationId xmlns:a16="http://schemas.microsoft.com/office/drawing/2014/main" id="{717194DA-FBB5-42BA-A3A1-A95CD7EBD6BA}"/>
              </a:ext>
            </a:extLst>
          </p:cNvPr>
          <p:cNvPicPr>
            <a:picLocks noChangeAspect="1"/>
          </p:cNvPicPr>
          <p:nvPr/>
        </p:nvPicPr>
        <p:blipFill>
          <a:blip r:embed="rId2"/>
          <a:stretch>
            <a:fillRect/>
          </a:stretch>
        </p:blipFill>
        <p:spPr>
          <a:xfrm>
            <a:off x="6577981" y="1310017"/>
            <a:ext cx="3913038" cy="2505569"/>
          </a:xfrm>
          <a:prstGeom prst="rect">
            <a:avLst/>
          </a:prstGeom>
        </p:spPr>
      </p:pic>
    </p:spTree>
    <p:extLst>
      <p:ext uri="{BB962C8B-B14F-4D97-AF65-F5344CB8AC3E}">
        <p14:creationId xmlns:p14="http://schemas.microsoft.com/office/powerpoint/2010/main" val="40891395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88CBD-8717-4B10-E6C8-A1C36157BD9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51C8CAF-4BA7-7ABC-9B2C-A449ACE14B14}"/>
              </a:ext>
            </a:extLst>
          </p:cNvPr>
          <p:cNvSpPr/>
          <p:nvPr/>
        </p:nvSpPr>
        <p:spPr>
          <a:xfrm>
            <a:off x="0" y="0"/>
            <a:ext cx="146304" cy="6858000"/>
          </a:xfrm>
          <a:prstGeom prst="rect">
            <a:avLst/>
          </a:prstGeom>
          <a:solidFill>
            <a:srgbClr val="14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270D8BD0-A577-8F50-B511-7F495E4B2184}"/>
              </a:ext>
            </a:extLst>
          </p:cNvPr>
          <p:cNvSpPr txBox="1"/>
          <p:nvPr/>
        </p:nvSpPr>
        <p:spPr>
          <a:xfrm>
            <a:off x="1312408" y="1917744"/>
            <a:ext cx="4345858" cy="1631216"/>
          </a:xfrm>
          <a:prstGeom prst="rect">
            <a:avLst/>
          </a:prstGeom>
          <a:noFill/>
        </p:spPr>
        <p:txBody>
          <a:bodyPr wrap="square" rtlCol="0">
            <a:spAutoFit/>
          </a:bodyPr>
          <a:lstStyle/>
          <a:p>
            <a:r>
              <a:rPr lang="en-IN" sz="2000" dirty="0">
                <a:latin typeface="Cambria" panose="02040503050406030204" pitchFamily="18" charset="0"/>
                <a:ea typeface="Cambria" panose="02040503050406030204" pitchFamily="18" charset="0"/>
              </a:rPr>
              <a:t>Goals: </a:t>
            </a:r>
          </a:p>
          <a:p>
            <a:r>
              <a:rPr lang="en-IN" sz="2000" dirty="0">
                <a:latin typeface="Cambria" panose="02040503050406030204" pitchFamily="18" charset="0"/>
                <a:ea typeface="Cambria" panose="02040503050406030204" pitchFamily="18" charset="0"/>
              </a:rPr>
              <a:t>Upload and publish music easily</a:t>
            </a:r>
          </a:p>
          <a:p>
            <a:r>
              <a:rPr lang="en-IN" sz="2000" dirty="0">
                <a:latin typeface="Cambria" panose="02040503050406030204" pitchFamily="18" charset="0"/>
                <a:ea typeface="Cambria" panose="02040503050406030204" pitchFamily="18" charset="0"/>
              </a:rPr>
              <a:t>Reach a wider audience.</a:t>
            </a:r>
          </a:p>
          <a:p>
            <a:r>
              <a:rPr lang="en-IN" sz="2000" dirty="0">
                <a:latin typeface="Cambria" panose="02040503050406030204" pitchFamily="18" charset="0"/>
                <a:ea typeface="Cambria" panose="02040503050406030204" pitchFamily="18" charset="0"/>
              </a:rPr>
              <a:t>Build a loyal listener base.</a:t>
            </a:r>
          </a:p>
          <a:p>
            <a:endParaRPr lang="en-IN" sz="2000" dirty="0">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6C87E904-DB8C-55BD-4E59-4B0ACE5B2F38}"/>
              </a:ext>
            </a:extLst>
          </p:cNvPr>
          <p:cNvSpPr txBox="1"/>
          <p:nvPr/>
        </p:nvSpPr>
        <p:spPr>
          <a:xfrm>
            <a:off x="7306546" y="3776722"/>
            <a:ext cx="4277028" cy="461665"/>
          </a:xfrm>
          <a:prstGeom prst="rect">
            <a:avLst/>
          </a:prstGeom>
          <a:noFill/>
        </p:spPr>
        <p:txBody>
          <a:bodyPr wrap="square" rtlCol="0">
            <a:spAutoFit/>
          </a:bodyPr>
          <a:lstStyle/>
          <a:p>
            <a:r>
              <a:rPr lang="en-IN" sz="2400" dirty="0">
                <a:latin typeface="Bernard MT Condensed" panose="02050806060905020404" pitchFamily="18" charset="0"/>
              </a:rPr>
              <a:t>ARPIT BALA</a:t>
            </a:r>
          </a:p>
        </p:txBody>
      </p:sp>
      <p:sp>
        <p:nvSpPr>
          <p:cNvPr id="8" name="TextBox 7">
            <a:extLst>
              <a:ext uri="{FF2B5EF4-FFF2-40B4-BE49-F238E27FC236}">
                <a16:creationId xmlns:a16="http://schemas.microsoft.com/office/drawing/2014/main" id="{23BC8C1F-FC75-84A6-971A-D779BB4E91F5}"/>
              </a:ext>
            </a:extLst>
          </p:cNvPr>
          <p:cNvSpPr txBox="1"/>
          <p:nvPr/>
        </p:nvSpPr>
        <p:spPr>
          <a:xfrm>
            <a:off x="7306546" y="4187546"/>
            <a:ext cx="2820682" cy="369332"/>
          </a:xfrm>
          <a:prstGeom prst="rect">
            <a:avLst/>
          </a:prstGeom>
          <a:noFill/>
        </p:spPr>
        <p:txBody>
          <a:bodyPr wrap="square" rtlCol="0">
            <a:spAutoFit/>
          </a:bodyPr>
          <a:lstStyle/>
          <a:p>
            <a:r>
              <a:rPr lang="en-IN" b="1" dirty="0"/>
              <a:t>27 YEARS OLD</a:t>
            </a:r>
          </a:p>
        </p:txBody>
      </p:sp>
      <p:sp>
        <p:nvSpPr>
          <p:cNvPr id="12" name="TextBox 11">
            <a:extLst>
              <a:ext uri="{FF2B5EF4-FFF2-40B4-BE49-F238E27FC236}">
                <a16:creationId xmlns:a16="http://schemas.microsoft.com/office/drawing/2014/main" id="{14C8934D-627E-C7EB-CD39-A60D4CC8FEB3}"/>
              </a:ext>
            </a:extLst>
          </p:cNvPr>
          <p:cNvSpPr txBox="1"/>
          <p:nvPr/>
        </p:nvSpPr>
        <p:spPr>
          <a:xfrm>
            <a:off x="1223136" y="733405"/>
            <a:ext cx="4741904" cy="707886"/>
          </a:xfrm>
          <a:prstGeom prst="rect">
            <a:avLst/>
          </a:prstGeom>
          <a:noFill/>
        </p:spPr>
        <p:txBody>
          <a:bodyPr wrap="square" rtlCol="0">
            <a:spAutoFit/>
          </a:bodyPr>
          <a:lstStyle/>
          <a:p>
            <a:r>
              <a:rPr lang="en-IN" sz="2000" b="1" dirty="0">
                <a:latin typeface="Cambria" panose="02040503050406030204" pitchFamily="18" charset="0"/>
                <a:ea typeface="Cambria" panose="02040503050406030204" pitchFamily="18" charset="0"/>
              </a:rPr>
              <a:t>“I want my music to reach the right audience”</a:t>
            </a:r>
            <a:endParaRPr lang="en-IN" sz="2000" dirty="0">
              <a:latin typeface="Cambria" panose="02040503050406030204" pitchFamily="18" charset="0"/>
              <a:ea typeface="Cambria" panose="02040503050406030204" pitchFamily="18" charset="0"/>
            </a:endParaRPr>
          </a:p>
        </p:txBody>
      </p:sp>
      <p:sp>
        <p:nvSpPr>
          <p:cNvPr id="13" name="TextBox 12">
            <a:extLst>
              <a:ext uri="{FF2B5EF4-FFF2-40B4-BE49-F238E27FC236}">
                <a16:creationId xmlns:a16="http://schemas.microsoft.com/office/drawing/2014/main" id="{C56E1CA8-D8B3-6044-76E0-FE618F83AE66}"/>
              </a:ext>
            </a:extLst>
          </p:cNvPr>
          <p:cNvSpPr txBox="1"/>
          <p:nvPr/>
        </p:nvSpPr>
        <p:spPr>
          <a:xfrm>
            <a:off x="1270720" y="3899232"/>
            <a:ext cx="4257368" cy="1631216"/>
          </a:xfrm>
          <a:prstGeom prst="rect">
            <a:avLst/>
          </a:prstGeom>
          <a:noFill/>
        </p:spPr>
        <p:txBody>
          <a:bodyPr wrap="square" rtlCol="0">
            <a:spAutoFit/>
          </a:bodyPr>
          <a:lstStyle/>
          <a:p>
            <a:r>
              <a:rPr lang="en-IN" sz="2000" dirty="0">
                <a:latin typeface="Cambria" panose="02040503050406030204" pitchFamily="18" charset="0"/>
                <a:ea typeface="Cambria" panose="02040503050406030204" pitchFamily="18" charset="0"/>
              </a:rPr>
              <a:t>Frustrations:</a:t>
            </a:r>
          </a:p>
          <a:p>
            <a:r>
              <a:rPr lang="en-IN" sz="2000" dirty="0">
                <a:latin typeface="Cambria" panose="02040503050406030204" pitchFamily="18" charset="0"/>
                <a:ea typeface="Cambria" panose="02040503050406030204" pitchFamily="18" charset="0"/>
              </a:rPr>
              <a:t>Complicated music uploading process</a:t>
            </a:r>
          </a:p>
          <a:p>
            <a:r>
              <a:rPr lang="en-IN" sz="2000" dirty="0">
                <a:latin typeface="Cambria" panose="02040503050406030204" pitchFamily="18" charset="0"/>
                <a:ea typeface="Cambria" panose="02040503050406030204" pitchFamily="18" charset="0"/>
              </a:rPr>
              <a:t>Difficulty getting discovered by new listeners</a:t>
            </a:r>
          </a:p>
        </p:txBody>
      </p:sp>
      <p:sp>
        <p:nvSpPr>
          <p:cNvPr id="16" name="TextBox 15">
            <a:extLst>
              <a:ext uri="{FF2B5EF4-FFF2-40B4-BE49-F238E27FC236}">
                <a16:creationId xmlns:a16="http://schemas.microsoft.com/office/drawing/2014/main" id="{085333D0-8850-0661-38C6-3F2DFE20AC16}"/>
              </a:ext>
            </a:extLst>
          </p:cNvPr>
          <p:cNvSpPr txBox="1"/>
          <p:nvPr/>
        </p:nvSpPr>
        <p:spPr>
          <a:xfrm>
            <a:off x="5658266" y="4714840"/>
            <a:ext cx="6115664" cy="923330"/>
          </a:xfrm>
          <a:prstGeom prst="rect">
            <a:avLst/>
          </a:prstGeom>
          <a:noFill/>
        </p:spPr>
        <p:txBody>
          <a:bodyPr wrap="square">
            <a:spAutoFit/>
          </a:bodyPr>
          <a:lstStyle/>
          <a:p>
            <a:r>
              <a:rPr lang="en-IN" dirty="0">
                <a:latin typeface="Cambria" panose="02040503050406030204" pitchFamily="18" charset="0"/>
                <a:ea typeface="Cambria" panose="02040503050406030204" pitchFamily="18" charset="0"/>
              </a:rPr>
              <a:t>An independent artist who creates and releases his own music. He wants a simple platform to upload his tracks, connect with listeners, and grow his presence as an artist.</a:t>
            </a:r>
          </a:p>
        </p:txBody>
      </p:sp>
      <p:pic>
        <p:nvPicPr>
          <p:cNvPr id="5" name="Picture 4">
            <a:extLst>
              <a:ext uri="{FF2B5EF4-FFF2-40B4-BE49-F238E27FC236}">
                <a16:creationId xmlns:a16="http://schemas.microsoft.com/office/drawing/2014/main" id="{D8DFC302-8198-1463-9BEC-886F619214F2}"/>
              </a:ext>
            </a:extLst>
          </p:cNvPr>
          <p:cNvPicPr>
            <a:picLocks noChangeAspect="1"/>
          </p:cNvPicPr>
          <p:nvPr/>
        </p:nvPicPr>
        <p:blipFill>
          <a:blip r:embed="rId2"/>
          <a:stretch>
            <a:fillRect/>
          </a:stretch>
        </p:blipFill>
        <p:spPr>
          <a:xfrm>
            <a:off x="6735098" y="733405"/>
            <a:ext cx="2977688" cy="2977688"/>
          </a:xfrm>
          <a:prstGeom prst="rect">
            <a:avLst/>
          </a:prstGeom>
        </p:spPr>
      </p:pic>
    </p:spTree>
    <p:extLst>
      <p:ext uri="{BB962C8B-B14F-4D97-AF65-F5344CB8AC3E}">
        <p14:creationId xmlns:p14="http://schemas.microsoft.com/office/powerpoint/2010/main" val="1237236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CF75C-E78D-2221-06CC-7D1FD19C9A2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F1889AD-BDB9-2E49-CD89-B408B97469C9}"/>
              </a:ext>
            </a:extLst>
          </p:cNvPr>
          <p:cNvSpPr/>
          <p:nvPr/>
        </p:nvSpPr>
        <p:spPr>
          <a:xfrm>
            <a:off x="0" y="0"/>
            <a:ext cx="146304" cy="6858000"/>
          </a:xfrm>
          <a:prstGeom prst="rect">
            <a:avLst/>
          </a:prstGeom>
          <a:solidFill>
            <a:srgbClr val="14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47C152C6-2507-5B4F-7C80-5B67289B3284}"/>
              </a:ext>
            </a:extLst>
          </p:cNvPr>
          <p:cNvSpPr txBox="1"/>
          <p:nvPr/>
        </p:nvSpPr>
        <p:spPr>
          <a:xfrm>
            <a:off x="1312408" y="1939123"/>
            <a:ext cx="4345858" cy="1938992"/>
          </a:xfrm>
          <a:prstGeom prst="rect">
            <a:avLst/>
          </a:prstGeom>
          <a:noFill/>
        </p:spPr>
        <p:txBody>
          <a:bodyPr wrap="square" rtlCol="0">
            <a:spAutoFit/>
          </a:bodyPr>
          <a:lstStyle/>
          <a:p>
            <a:r>
              <a:rPr lang="en-IN" sz="2000" dirty="0">
                <a:latin typeface="Cambria" panose="02040503050406030204" pitchFamily="18" charset="0"/>
                <a:ea typeface="Cambria" panose="02040503050406030204" pitchFamily="18" charset="0"/>
              </a:rPr>
              <a:t>Goals: </a:t>
            </a:r>
          </a:p>
          <a:p>
            <a:r>
              <a:rPr lang="en-IN" sz="2000" dirty="0">
                <a:latin typeface="Cambria" panose="02040503050406030204" pitchFamily="18" charset="0"/>
                <a:ea typeface="Cambria" panose="02040503050406030204" pitchFamily="18" charset="0"/>
              </a:rPr>
              <a:t>Choose exactly which song to play and when</a:t>
            </a:r>
          </a:p>
          <a:p>
            <a:r>
              <a:rPr lang="en-IN" sz="2000" dirty="0">
                <a:latin typeface="Cambria" panose="02040503050406030204" pitchFamily="18" charset="0"/>
                <a:ea typeface="Cambria" panose="02040503050406030204" pitchFamily="18" charset="0"/>
              </a:rPr>
              <a:t>Move from television to mobile for music.</a:t>
            </a:r>
          </a:p>
          <a:p>
            <a:endParaRPr lang="en-IN" sz="2000" dirty="0">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B33E9F1A-4BC0-A2E4-38FF-AAF575EC446D}"/>
              </a:ext>
            </a:extLst>
          </p:cNvPr>
          <p:cNvSpPr txBox="1"/>
          <p:nvPr/>
        </p:nvSpPr>
        <p:spPr>
          <a:xfrm>
            <a:off x="7198391" y="3776722"/>
            <a:ext cx="4277028" cy="461665"/>
          </a:xfrm>
          <a:prstGeom prst="rect">
            <a:avLst/>
          </a:prstGeom>
          <a:noFill/>
        </p:spPr>
        <p:txBody>
          <a:bodyPr wrap="square" rtlCol="0">
            <a:spAutoFit/>
          </a:bodyPr>
          <a:lstStyle/>
          <a:p>
            <a:r>
              <a:rPr lang="en-IN" sz="2400" dirty="0">
                <a:latin typeface="Bernard MT Condensed" panose="02050806060905020404" pitchFamily="18" charset="0"/>
              </a:rPr>
              <a:t>GEETA MISHRA</a:t>
            </a:r>
          </a:p>
        </p:txBody>
      </p:sp>
      <p:sp>
        <p:nvSpPr>
          <p:cNvPr id="8" name="TextBox 7">
            <a:extLst>
              <a:ext uri="{FF2B5EF4-FFF2-40B4-BE49-F238E27FC236}">
                <a16:creationId xmlns:a16="http://schemas.microsoft.com/office/drawing/2014/main" id="{1152847C-A237-02FF-C0F7-59532FD07840}"/>
              </a:ext>
            </a:extLst>
          </p:cNvPr>
          <p:cNvSpPr txBox="1"/>
          <p:nvPr/>
        </p:nvSpPr>
        <p:spPr>
          <a:xfrm>
            <a:off x="7306546" y="4187546"/>
            <a:ext cx="2820682" cy="369332"/>
          </a:xfrm>
          <a:prstGeom prst="rect">
            <a:avLst/>
          </a:prstGeom>
          <a:noFill/>
        </p:spPr>
        <p:txBody>
          <a:bodyPr wrap="square" rtlCol="0">
            <a:spAutoFit/>
          </a:bodyPr>
          <a:lstStyle/>
          <a:p>
            <a:r>
              <a:rPr lang="en-IN" b="1" dirty="0"/>
              <a:t>71 YEARS OLD</a:t>
            </a:r>
          </a:p>
        </p:txBody>
      </p:sp>
      <p:sp>
        <p:nvSpPr>
          <p:cNvPr id="12" name="TextBox 11">
            <a:extLst>
              <a:ext uri="{FF2B5EF4-FFF2-40B4-BE49-F238E27FC236}">
                <a16:creationId xmlns:a16="http://schemas.microsoft.com/office/drawing/2014/main" id="{13D90EB8-E864-71D0-CC25-BD03CAF973A7}"/>
              </a:ext>
            </a:extLst>
          </p:cNvPr>
          <p:cNvSpPr txBox="1"/>
          <p:nvPr/>
        </p:nvSpPr>
        <p:spPr>
          <a:xfrm>
            <a:off x="1270720" y="786739"/>
            <a:ext cx="4741904" cy="707886"/>
          </a:xfrm>
          <a:prstGeom prst="rect">
            <a:avLst/>
          </a:prstGeom>
          <a:noFill/>
        </p:spPr>
        <p:txBody>
          <a:bodyPr wrap="square" rtlCol="0">
            <a:spAutoFit/>
          </a:bodyPr>
          <a:lstStyle/>
          <a:p>
            <a:r>
              <a:rPr lang="en-IN" sz="2000" b="1" dirty="0"/>
              <a:t>“I want to listen to my favourite bhajans whenever I want.”</a:t>
            </a:r>
            <a:endParaRPr lang="en-IN" sz="2000" b="1" dirty="0">
              <a:latin typeface="Cambria" panose="02040503050406030204" pitchFamily="18" charset="0"/>
              <a:ea typeface="Cambria" panose="02040503050406030204" pitchFamily="18" charset="0"/>
            </a:endParaRPr>
          </a:p>
        </p:txBody>
      </p:sp>
      <p:sp>
        <p:nvSpPr>
          <p:cNvPr id="13" name="TextBox 12">
            <a:extLst>
              <a:ext uri="{FF2B5EF4-FFF2-40B4-BE49-F238E27FC236}">
                <a16:creationId xmlns:a16="http://schemas.microsoft.com/office/drawing/2014/main" id="{3AE8809E-C8ED-9526-7B74-6DD1569B9361}"/>
              </a:ext>
            </a:extLst>
          </p:cNvPr>
          <p:cNvSpPr txBox="1"/>
          <p:nvPr/>
        </p:nvSpPr>
        <p:spPr>
          <a:xfrm>
            <a:off x="1270720" y="3823579"/>
            <a:ext cx="4257368" cy="1631216"/>
          </a:xfrm>
          <a:prstGeom prst="rect">
            <a:avLst/>
          </a:prstGeom>
          <a:noFill/>
        </p:spPr>
        <p:txBody>
          <a:bodyPr wrap="square" rtlCol="0">
            <a:spAutoFit/>
          </a:bodyPr>
          <a:lstStyle/>
          <a:p>
            <a:r>
              <a:rPr lang="en-IN" sz="2000" dirty="0">
                <a:latin typeface="Cambria" panose="02040503050406030204" pitchFamily="18" charset="0"/>
                <a:ea typeface="Cambria" panose="02040503050406030204" pitchFamily="18" charset="0"/>
              </a:rPr>
              <a:t>Frustrations:</a:t>
            </a:r>
          </a:p>
          <a:p>
            <a:r>
              <a:rPr lang="en-IN" sz="2000" dirty="0">
                <a:latin typeface="Cambria" panose="02040503050406030204" pitchFamily="18" charset="0"/>
                <a:ea typeface="Cambria" panose="02040503050406030204" pitchFamily="18" charset="0"/>
              </a:rPr>
              <a:t>Searching for specific songs can be difficult</a:t>
            </a:r>
          </a:p>
          <a:p>
            <a:r>
              <a:rPr lang="en-IN" sz="2000" dirty="0">
                <a:latin typeface="Cambria" panose="02040503050406030204" pitchFamily="18" charset="0"/>
                <a:ea typeface="Cambria" panose="02040503050406030204" pitchFamily="18" charset="0"/>
              </a:rPr>
              <a:t>Finds music apps difficult and confusing to navigate.</a:t>
            </a:r>
          </a:p>
        </p:txBody>
      </p:sp>
      <p:sp>
        <p:nvSpPr>
          <p:cNvPr id="16" name="TextBox 15">
            <a:extLst>
              <a:ext uri="{FF2B5EF4-FFF2-40B4-BE49-F238E27FC236}">
                <a16:creationId xmlns:a16="http://schemas.microsoft.com/office/drawing/2014/main" id="{FCC7441B-9F4C-0803-4B95-579A2A764CBC}"/>
              </a:ext>
            </a:extLst>
          </p:cNvPr>
          <p:cNvSpPr txBox="1"/>
          <p:nvPr/>
        </p:nvSpPr>
        <p:spPr>
          <a:xfrm>
            <a:off x="5658267" y="4714840"/>
            <a:ext cx="5688160" cy="1477328"/>
          </a:xfrm>
          <a:prstGeom prst="rect">
            <a:avLst/>
          </a:prstGeom>
          <a:noFill/>
        </p:spPr>
        <p:txBody>
          <a:bodyPr wrap="square">
            <a:spAutoFit/>
          </a:bodyPr>
          <a:lstStyle/>
          <a:p>
            <a:r>
              <a:rPr lang="en-IN" dirty="0">
                <a:latin typeface="Cambria" panose="02040503050406030204" pitchFamily="18" charset="0"/>
                <a:ea typeface="Cambria" panose="02040503050406030204" pitchFamily="18" charset="0"/>
              </a:rPr>
              <a:t>A 72-year-old homemaker who enjoys listening to bhajans and religious music on television. She wants the freedom to choose her own songs on mobile but prefers a simple experience where she can control everything through voice commands</a:t>
            </a:r>
          </a:p>
        </p:txBody>
      </p:sp>
      <p:pic>
        <p:nvPicPr>
          <p:cNvPr id="3" name="Picture 2" descr="Cute illustration of elderly indian woman on white background | Premium AI-generated image">
            <a:extLst>
              <a:ext uri="{FF2B5EF4-FFF2-40B4-BE49-F238E27FC236}">
                <a16:creationId xmlns:a16="http://schemas.microsoft.com/office/drawing/2014/main" id="{28CDD612-10A2-6E43-840C-BA77526C1D43}"/>
              </a:ext>
            </a:extLst>
          </p:cNvPr>
          <p:cNvPicPr>
            <a:picLocks noChangeAspect="1"/>
          </p:cNvPicPr>
          <p:nvPr/>
        </p:nvPicPr>
        <p:blipFill>
          <a:blip r:embed="rId2"/>
          <a:stretch>
            <a:fillRect/>
          </a:stretch>
        </p:blipFill>
        <p:spPr>
          <a:xfrm>
            <a:off x="6656439" y="786739"/>
            <a:ext cx="2871019" cy="2871019"/>
          </a:xfrm>
          <a:prstGeom prst="rect">
            <a:avLst/>
          </a:prstGeom>
        </p:spPr>
      </p:pic>
    </p:spTree>
    <p:extLst>
      <p:ext uri="{BB962C8B-B14F-4D97-AF65-F5344CB8AC3E}">
        <p14:creationId xmlns:p14="http://schemas.microsoft.com/office/powerpoint/2010/main" val="3608685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14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8103" y="2586867"/>
            <a:ext cx="3419890" cy="707886"/>
          </a:xfrm>
          <a:prstGeom prst="rect">
            <a:avLst/>
          </a:prstGeom>
          <a:noFill/>
        </p:spPr>
        <p:txBody>
          <a:bodyPr wrap="square">
            <a:spAutoFit/>
          </a:bodyPr>
          <a:lstStyle/>
          <a:p>
            <a:pPr algn="ctr"/>
            <a:r>
              <a:rPr sz="4000" b="1" dirty="0">
                <a:solidFill>
                  <a:srgbClr val="141F34"/>
                </a:solidFill>
                <a:latin typeface="Arial Black" panose="020B0A04020102020204" pitchFamily="34" charset="0"/>
              </a:rPr>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243</TotalTime>
  <Words>348</Words>
  <Application>Microsoft Office PowerPoint</Application>
  <PresentationFormat>Widescreen</PresentationFormat>
  <Paragraphs>52</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 Black</vt:lpstr>
      <vt:lpstr>Bernard MT Condensed</vt:lpstr>
      <vt:lpstr>Cambria</vt:lpstr>
      <vt:lpstr>Century Gothic</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tirthcaptain@gmail.com</cp:lastModifiedBy>
  <cp:revision>4</cp:revision>
  <dcterms:created xsi:type="dcterms:W3CDTF">2013-01-27T09:14:16Z</dcterms:created>
  <dcterms:modified xsi:type="dcterms:W3CDTF">2026-08-12T17:18:45Z</dcterms:modified>
  <cp:category/>
</cp:coreProperties>
</file>